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1D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115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1489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72CC5729-E7C8-86DD-1AA8-8C2FDF372916}"/>
              </a:ext>
            </a:extLst>
          </p:cNvPr>
          <p:cNvSpPr/>
          <p:nvPr/>
        </p:nvSpPr>
        <p:spPr>
          <a:xfrm>
            <a:off x="304800" y="1371599"/>
            <a:ext cx="11477767" cy="4494209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AutoConcourse Pipeline</a:t>
            </a:r>
            <a:endParaRPr lang="en-US" sz="30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stages from public discourse to Q-sample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577340"/>
            <a:ext cx="1874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5" name="Shape 3"/>
          <p:cNvSpPr/>
          <p:nvPr/>
        </p:nvSpPr>
        <p:spPr>
          <a:xfrm>
            <a:off x="640080" y="1577340"/>
            <a:ext cx="82296" cy="1691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841248" y="17145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645920" y="1778508"/>
            <a:ext cx="749808" cy="201168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Text 6"/>
          <p:cNvSpPr/>
          <p:nvPr/>
        </p:nvSpPr>
        <p:spPr>
          <a:xfrm>
            <a:off x="1645920" y="177850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21717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assembly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" y="25831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issue-scoped sources; filter, segment into paragraphs; retain metadata.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3314700"/>
            <a:ext cx="1874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2" name="Shape 10"/>
          <p:cNvSpPr/>
          <p:nvPr/>
        </p:nvSpPr>
        <p:spPr>
          <a:xfrm>
            <a:off x="640080" y="3314700"/>
            <a:ext cx="82296" cy="1691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/>
          <p:nvPr/>
        </p:nvSpPr>
        <p:spPr>
          <a:xfrm>
            <a:off x="841248" y="34518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645920" y="3515868"/>
            <a:ext cx="749808" cy="201168"/>
          </a:xfrm>
          <a:prstGeom prst="roundRect">
            <a:avLst>
              <a:gd name="adj" fmla="val 18182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/>
          <p:nvPr/>
        </p:nvSpPr>
        <p:spPr>
          <a:xfrm>
            <a:off x="1645920" y="351586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" y="39090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generation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1248" y="43205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writes anchor texts per facet from subcategory labels and context.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0" y="2446020"/>
            <a:ext cx="1874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9" name="Shape 17"/>
          <p:cNvSpPr/>
          <p:nvPr/>
        </p:nvSpPr>
        <p:spPr>
          <a:xfrm>
            <a:off x="3200400" y="2446020"/>
            <a:ext cx="82296" cy="1691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/>
          <p:nvPr/>
        </p:nvSpPr>
        <p:spPr>
          <a:xfrm>
            <a:off x="3401568" y="25831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4206240" y="2647188"/>
            <a:ext cx="749808" cy="201168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2" name="Text 20"/>
          <p:cNvSpPr/>
          <p:nvPr/>
        </p:nvSpPr>
        <p:spPr>
          <a:xfrm>
            <a:off x="4206240" y="264718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401568" y="30403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01568" y="34518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SBERT maps paragraphs and anchors into a shared vector space.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303520" y="2446020"/>
            <a:ext cx="1874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26" name="Shape 24"/>
          <p:cNvSpPr/>
          <p:nvPr/>
        </p:nvSpPr>
        <p:spPr>
          <a:xfrm>
            <a:off x="5303520" y="2446020"/>
            <a:ext cx="82296" cy="1691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7" name="Text 25"/>
          <p:cNvSpPr/>
          <p:nvPr/>
        </p:nvSpPr>
        <p:spPr>
          <a:xfrm>
            <a:off x="5504688" y="25831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6309360" y="2647188"/>
            <a:ext cx="749808" cy="201168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9" name="Text 27"/>
          <p:cNvSpPr/>
          <p:nvPr/>
        </p:nvSpPr>
        <p:spPr>
          <a:xfrm>
            <a:off x="6309360" y="264718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504688" y="30403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retrieval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504688" y="34518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selects top-K paragraphs per anchor; multi-membership allowed.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406640" y="2446020"/>
            <a:ext cx="1874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33" name="Shape 31"/>
          <p:cNvSpPr/>
          <p:nvPr/>
        </p:nvSpPr>
        <p:spPr>
          <a:xfrm>
            <a:off x="7406640" y="2446020"/>
            <a:ext cx="82296" cy="1691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4" name="Text 32"/>
          <p:cNvSpPr/>
          <p:nvPr/>
        </p:nvSpPr>
        <p:spPr>
          <a:xfrm>
            <a:off x="7607808" y="25831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8412480" y="2647188"/>
            <a:ext cx="749808" cy="201168"/>
          </a:xfrm>
          <a:prstGeom prst="roundRect">
            <a:avLst>
              <a:gd name="adj" fmla="val 18182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6" name="Text 34"/>
          <p:cNvSpPr/>
          <p:nvPr/>
        </p:nvSpPr>
        <p:spPr>
          <a:xfrm>
            <a:off x="8412480" y="264718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7607808" y="30403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synthesis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607808" y="34518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prompts produce short, neutral, single-claim candidate statements.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509760" y="2446020"/>
            <a:ext cx="1874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40" name="Shape 38"/>
          <p:cNvSpPr/>
          <p:nvPr/>
        </p:nvSpPr>
        <p:spPr>
          <a:xfrm>
            <a:off x="9509760" y="2446020"/>
            <a:ext cx="82296" cy="169164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1" name="Text 39"/>
          <p:cNvSpPr/>
          <p:nvPr/>
        </p:nvSpPr>
        <p:spPr>
          <a:xfrm>
            <a:off x="9710928" y="25831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42" name="Shape 40"/>
          <p:cNvSpPr/>
          <p:nvPr/>
        </p:nvSpPr>
        <p:spPr>
          <a:xfrm>
            <a:off x="10515600" y="2647188"/>
            <a:ext cx="749808" cy="201168"/>
          </a:xfrm>
          <a:prstGeom prst="roundRect">
            <a:avLst>
              <a:gd name="adj" fmla="val 18182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3" name="Text 41"/>
          <p:cNvSpPr/>
          <p:nvPr/>
        </p:nvSpPr>
        <p:spPr>
          <a:xfrm>
            <a:off x="10515600" y="264718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9710928" y="30403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curation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9710928" y="34518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panel reviews for clarity, balance, redundancy; produces final Q-sample.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514600" y="2423160"/>
            <a:ext cx="18288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7" name="Shape 45"/>
          <p:cNvSpPr/>
          <p:nvPr/>
        </p:nvSpPr>
        <p:spPr>
          <a:xfrm>
            <a:off x="2514600" y="4160520"/>
            <a:ext cx="18288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8" name="Shape 46"/>
          <p:cNvSpPr/>
          <p:nvPr/>
        </p:nvSpPr>
        <p:spPr>
          <a:xfrm>
            <a:off x="2697480" y="2423160"/>
            <a:ext cx="0" cy="173736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9" name="Shape 47"/>
          <p:cNvSpPr/>
          <p:nvPr/>
        </p:nvSpPr>
        <p:spPr>
          <a:xfrm>
            <a:off x="2697480" y="3291840"/>
            <a:ext cx="50292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50" name="Shape 48"/>
          <p:cNvSpPr/>
          <p:nvPr/>
        </p:nvSpPr>
        <p:spPr>
          <a:xfrm>
            <a:off x="5074920" y="3291840"/>
            <a:ext cx="22860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51" name="Shape 49"/>
          <p:cNvSpPr/>
          <p:nvPr/>
        </p:nvSpPr>
        <p:spPr>
          <a:xfrm>
            <a:off x="7178040" y="3291840"/>
            <a:ext cx="22860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52" name="Shape 50"/>
          <p:cNvSpPr/>
          <p:nvPr/>
        </p:nvSpPr>
        <p:spPr>
          <a:xfrm>
            <a:off x="9281160" y="3291840"/>
            <a:ext cx="22860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53" name="Shape 51"/>
          <p:cNvSpPr/>
          <p:nvPr/>
        </p:nvSpPr>
        <p:spPr>
          <a:xfrm>
            <a:off x="640080" y="5170932"/>
            <a:ext cx="1874520" cy="411480"/>
          </a:xfrm>
          <a:prstGeom prst="roundRect">
            <a:avLst>
              <a:gd name="adj" fmla="val 13333"/>
            </a:avLst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4" name="Text 52"/>
          <p:cNvSpPr/>
          <p:nvPr/>
        </p:nvSpPr>
        <p:spPr>
          <a:xfrm>
            <a:off x="640080" y="517093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 </a:t>
            </a:r>
            <a:r>
              <a:rPr lang="en-US" sz="1100" dirty="0">
                <a:solidFill>
                  <a:srgbClr val="FEE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autonomy gap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57200" y="614933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</a:t>
            </a: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deterministic     </a:t>
            </a:r>
            <a:r>
              <a:rPr lang="en-US" sz="1200" b="1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LLM-based     </a:t>
            </a:r>
            <a:r>
              <a:rPr lang="en-US" sz="1200" b="1" i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human-in-the-loop     </a:t>
            </a:r>
            <a:r>
              <a:rPr lang="en-US" sz="1200" b="1" i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gap </a:t>
            </a:r>
            <a:endParaRPr lang="en-US" sz="1200" dirty="0"/>
          </a:p>
        </p:txBody>
      </p:sp>
      <p:sp>
        <p:nvSpPr>
          <p:cNvPr id="59" name="Shape 51">
            <a:extLst>
              <a:ext uri="{FF2B5EF4-FFF2-40B4-BE49-F238E27FC236}">
                <a16:creationId xmlns:a16="http://schemas.microsoft.com/office/drawing/2014/main" id="{38A27A40-0468-ABFF-E9CD-19976A3DE379}"/>
              </a:ext>
            </a:extLst>
          </p:cNvPr>
          <p:cNvSpPr/>
          <p:nvPr/>
        </p:nvSpPr>
        <p:spPr>
          <a:xfrm>
            <a:off x="5303520" y="5646420"/>
            <a:ext cx="1874520" cy="411480"/>
          </a:xfrm>
          <a:prstGeom prst="roundRect">
            <a:avLst>
              <a:gd name="adj" fmla="val 13333"/>
            </a:avLst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  <p:txBody>
          <a:bodyPr/>
          <a:lstStyle/>
          <a:p>
            <a:endParaRPr lang="en-CH" dirty="0"/>
          </a:p>
        </p:txBody>
      </p:sp>
      <p:sp>
        <p:nvSpPr>
          <p:cNvPr id="60" name="Text 52">
            <a:extLst>
              <a:ext uri="{FF2B5EF4-FFF2-40B4-BE49-F238E27FC236}">
                <a16:creationId xmlns:a16="http://schemas.microsoft.com/office/drawing/2014/main" id="{DFC1243B-EA54-FADB-7AC1-9C674766D12F}"/>
              </a:ext>
            </a:extLst>
          </p:cNvPr>
          <p:cNvSpPr/>
          <p:nvPr/>
        </p:nvSpPr>
        <p:spPr>
          <a:xfrm>
            <a:off x="5303520" y="5650993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  </a:t>
            </a:r>
            <a:r>
              <a:rPr lang="en-US" sz="1100" dirty="0">
                <a:solidFill>
                  <a:srgbClr val="FEE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gap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126</Words>
  <Application>Microsoft Office PowerPoint</Application>
  <PresentationFormat>Widescreen</PresentationFormat>
  <Paragraphs>30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AutoConcourse Pipeline</dc:title>
  <dc:subject>PptxGenJS Presentation</dc:subject>
  <dc:creator>PptxGenJS</dc:creator>
  <cp:lastModifiedBy>Maurice Flechtner</cp:lastModifiedBy>
  <cp:revision>2</cp:revision>
  <dcterms:created xsi:type="dcterms:W3CDTF">2026-04-21T08:26:01Z</dcterms:created>
  <dcterms:modified xsi:type="dcterms:W3CDTF">2026-04-21T08:54:23Z</dcterms:modified>
</cp:coreProperties>
</file>