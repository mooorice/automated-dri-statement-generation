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75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an </a:t>
            </a:r>
            <a:r>
              <a:rPr lang="en-US" dirty="0" err="1"/>
              <a:t>hq</a:t>
            </a:r>
            <a:r>
              <a:rPr lang="en-US" dirty="0"/>
              <a:t> concourse?</a:t>
            </a:r>
          </a:p>
          <a:p>
            <a:r>
              <a:rPr lang="en-US" dirty="0"/>
              <a:t>Directionality</a:t>
            </a:r>
          </a:p>
          <a:p>
            <a:r>
              <a:rPr lang="en-US" dirty="0" err="1"/>
              <a:t>Vaguenes</a:t>
            </a:r>
            <a:endParaRPr lang="en-US" dirty="0"/>
          </a:p>
          <a:p>
            <a:r>
              <a:rPr lang="en-US" dirty="0"/>
              <a:t>Pub disc</a:t>
            </a:r>
          </a:p>
          <a:p>
            <a:br>
              <a:rPr lang="en-US" dirty="0"/>
            </a:br>
            <a:r>
              <a:rPr lang="en-US" dirty="0"/>
              <a:t>(Subj. measuring subj?)</a:t>
            </a:r>
          </a:p>
          <a:p>
            <a:endParaRPr lang="en-US" dirty="0"/>
          </a:p>
          <a:p>
            <a:r>
              <a:rPr lang="en-US" dirty="0"/>
              <a:t>Purpose: resource eff. &amp; subjectivity (this 1 dubious)</a:t>
            </a:r>
          </a:p>
          <a:p>
            <a:endParaRPr lang="en-US" dirty="0"/>
          </a:p>
          <a:p>
            <a:r>
              <a:rPr lang="en-US" dirty="0"/>
              <a:t>Anchors: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Experts care about things that the public doesn’t and vice versa</a:t>
            </a:r>
          </a:p>
          <a:p>
            <a:pPr marL="171450" indent="-171450">
              <a:buFontTx/>
              <a:buChar char="-"/>
            </a:pPr>
            <a:r>
              <a:rPr lang="en-US" dirty="0"/>
              <a:t>Media coverage is not full anymore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Salience:</a:t>
            </a:r>
          </a:p>
          <a:p>
            <a:pPr marL="171450" indent="-171450">
              <a:buFontTx/>
              <a:buChar char="-"/>
            </a:pPr>
            <a:r>
              <a:rPr lang="en-US" dirty="0"/>
              <a:t>Do they need to be prevalent?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EXAMPLES!</a:t>
            </a:r>
            <a:br>
              <a:rPr lang="en-US" dirty="0"/>
            </a:b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Demonstrate subjectivity between experts to have a lower bar to pass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Compare choices of diff reranking systems and anchors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Find pool of </a:t>
            </a:r>
            <a:r>
              <a:rPr lang="en-US" dirty="0" err="1"/>
              <a:t>epxerts</a:t>
            </a:r>
            <a:r>
              <a:rPr lang="en-US" dirty="0"/>
              <a:t> and let them choose between </a:t>
            </a:r>
            <a:r>
              <a:rPr lang="en-US" dirty="0" err="1"/>
              <a:t>fomulations</a:t>
            </a:r>
            <a:r>
              <a:rPr lang="en-US" dirty="0"/>
              <a:t> (pairwise comparison or ranking)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Directly compute interrater consistency</a:t>
            </a:r>
          </a:p>
          <a:p>
            <a:pPr marL="228600" indent="-228600">
              <a:buFontTx/>
              <a:buAutoNum type="arabicPeriod"/>
            </a:pPr>
            <a:endParaRPr lang="en-US" dirty="0"/>
          </a:p>
          <a:p>
            <a:pPr marL="228600" indent="-228600">
              <a:buFontTx/>
              <a:buAutoNum type="arabicPeriod"/>
            </a:pPr>
            <a:endParaRPr lang="en-US" dirty="0"/>
          </a:p>
          <a:p>
            <a:pPr marL="228600" indent="-228600">
              <a:buFontTx/>
              <a:buAutoNum type="arabicPeriod"/>
            </a:pPr>
            <a:r>
              <a:rPr lang="en-US" dirty="0"/>
              <a:t>Think of a study where I try to find out how different surveys produce different or similar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09728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computational pipeline for automatic generation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Q-concourse statements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4348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Maurice Flechtner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Zurich · ETH Zurich    ·    CompText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PRIMER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Q-methodology in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large pool of statements representing discourse on the issue.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1737360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410712" y="1737360"/>
            <a:ext cx="26974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3685032" y="21031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68503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85032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Q-sample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85032" y="34747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30–60 short, neutral, declarative statements covering the facets of the concourse.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6272784" y="1737360"/>
            <a:ext cx="26974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6547104" y="21031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654710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47104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Q-sort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34747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rank statements on a forced-distribution grid (agree ↔ disagree).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34856" y="1737360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9134856" y="1737360"/>
            <a:ext cx="26974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9409176" y="21031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40917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09176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09176" y="34747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persons (not variables), extract and interpret shared viewpoints.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concourse step (</a:t>
            </a: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Q-sample phrasing (</a:t>
            </a: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where all the labor sits — and where we intervene.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Concourse construction takes a lot of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Q-methodology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studies subjective viewpoints by having participants sort statements drawn from a </a:t>
            </a:r>
            <a:r>
              <a:rPr lang="en-US" sz="16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concourse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set of statements meant to represent the public discourse on an issue.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75003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of the entire study hinges on concourse quality — breadth, neutrality, balance, coverage.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 practice: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 ·  costly  ·  idiosyncratic across teams  ·  hard to scale  ·  brittle in multilingual settings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737360"/>
            <a:ext cx="4846320" cy="429768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4688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concourse generation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NLP?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949440" y="47548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…while keeping the researcher in control,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outputs auditable?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 Reason Index as a specific Q instantiation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 Reason Index (DRI)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outcome measure for deliberation: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of participants are compared on both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/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320040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342900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 = intersubjective consistency between reasons and preferences — without requiring unanimity.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645920"/>
            <a:ext cx="4846320" cy="420624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694944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 is a useful test bed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37744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success criteria — survey structure is explicit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sets (reasons + preferences) both need coverage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deployment: a live Swiss citizens' assembly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Statement-craft norms identical to Q-methodology at large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0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3000" b="1" dirty="0" err="1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</a:t>
            </a:r>
            <a:r>
              <a:rPr lang="en-US" sz="30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</a:t>
            </a:r>
            <a:endParaRPr lang="en-US" sz="3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7A0F23-9F5F-FEA1-814F-346E9269946F}"/>
              </a:ext>
            </a:extLst>
          </p:cNvPr>
          <p:cNvSpPr/>
          <p:nvPr/>
        </p:nvSpPr>
        <p:spPr>
          <a:xfrm>
            <a:off x="304800" y="1371599"/>
            <a:ext cx="11477767" cy="4494209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CF34181-6F24-40D2-203F-83C02C1A1165}"/>
              </a:ext>
            </a:extLst>
          </p:cNvPr>
          <p:cNvSpPr/>
          <p:nvPr/>
        </p:nvSpPr>
        <p:spPr>
          <a:xfrm>
            <a:off x="640080" y="157734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A4A2F68-AE50-1458-EC73-CFF0640261E6}"/>
              </a:ext>
            </a:extLst>
          </p:cNvPr>
          <p:cNvSpPr/>
          <p:nvPr/>
        </p:nvSpPr>
        <p:spPr>
          <a:xfrm>
            <a:off x="640080" y="1577340"/>
            <a:ext cx="82296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2E124E5-2D13-5E39-186F-79FAC7FEA32E}"/>
              </a:ext>
            </a:extLst>
          </p:cNvPr>
          <p:cNvSpPr/>
          <p:nvPr/>
        </p:nvSpPr>
        <p:spPr>
          <a:xfrm>
            <a:off x="841248" y="17145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CBBFA26-2C88-F07E-06E3-A7C6B753C294}"/>
              </a:ext>
            </a:extLst>
          </p:cNvPr>
          <p:cNvSpPr/>
          <p:nvPr/>
        </p:nvSpPr>
        <p:spPr>
          <a:xfrm>
            <a:off x="1645920" y="177850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0577AED-3483-B0A7-DB94-129885AEA9DA}"/>
              </a:ext>
            </a:extLst>
          </p:cNvPr>
          <p:cNvSpPr/>
          <p:nvPr/>
        </p:nvSpPr>
        <p:spPr>
          <a:xfrm>
            <a:off x="1645920" y="177850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8528BF8-B747-6695-BC80-4906FB82EB58}"/>
              </a:ext>
            </a:extLst>
          </p:cNvPr>
          <p:cNvSpPr/>
          <p:nvPr/>
        </p:nvSpPr>
        <p:spPr>
          <a:xfrm>
            <a:off x="841248" y="2171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assembly</a:t>
            </a:r>
            <a:endParaRPr lang="en-US" sz="1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8625B6C-3CBB-14E4-A583-7C519BDA95AD}"/>
              </a:ext>
            </a:extLst>
          </p:cNvPr>
          <p:cNvSpPr/>
          <p:nvPr/>
        </p:nvSpPr>
        <p:spPr>
          <a:xfrm>
            <a:off x="841248" y="25831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issue-scoped sources; filter, segment into paragraphs; retain metadata.</a:t>
            </a:r>
            <a:endParaRPr lang="en-US" sz="105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5927E1-80C5-8506-9F9B-C96E2392B3EC}"/>
              </a:ext>
            </a:extLst>
          </p:cNvPr>
          <p:cNvSpPr/>
          <p:nvPr/>
        </p:nvSpPr>
        <p:spPr>
          <a:xfrm>
            <a:off x="640080" y="331470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513BF36D-80F9-1B51-67F4-B8BC83E44FDA}"/>
              </a:ext>
            </a:extLst>
          </p:cNvPr>
          <p:cNvSpPr/>
          <p:nvPr/>
        </p:nvSpPr>
        <p:spPr>
          <a:xfrm>
            <a:off x="640080" y="3314700"/>
            <a:ext cx="82296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D8649C2-8C76-0B2A-DC13-6483448FF44F}"/>
              </a:ext>
            </a:extLst>
          </p:cNvPr>
          <p:cNvSpPr/>
          <p:nvPr/>
        </p:nvSpPr>
        <p:spPr>
          <a:xfrm>
            <a:off x="841248" y="34518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18124F03-AF3F-AF90-D880-859260075D42}"/>
              </a:ext>
            </a:extLst>
          </p:cNvPr>
          <p:cNvSpPr/>
          <p:nvPr/>
        </p:nvSpPr>
        <p:spPr>
          <a:xfrm>
            <a:off x="1645920" y="35158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16448ED-C508-2D2A-E026-2BB4F88817B9}"/>
              </a:ext>
            </a:extLst>
          </p:cNvPr>
          <p:cNvSpPr/>
          <p:nvPr/>
        </p:nvSpPr>
        <p:spPr>
          <a:xfrm>
            <a:off x="1645920" y="35158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85AE62F-AC2C-3EDE-0D95-5772E90E082B}"/>
              </a:ext>
            </a:extLst>
          </p:cNvPr>
          <p:cNvSpPr/>
          <p:nvPr/>
        </p:nvSpPr>
        <p:spPr>
          <a:xfrm>
            <a:off x="841248" y="39090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generation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681981A-85EF-075F-F1BD-B08EEA5C8002}"/>
              </a:ext>
            </a:extLst>
          </p:cNvPr>
          <p:cNvSpPr/>
          <p:nvPr/>
        </p:nvSpPr>
        <p:spPr>
          <a:xfrm>
            <a:off x="841248" y="43205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anchor texts per facet from subcategory labels and context.</a:t>
            </a:r>
            <a:endParaRPr lang="en-US" sz="105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9F2BCE03-B95E-5636-35D2-AEF7EA1CAEEB}"/>
              </a:ext>
            </a:extLst>
          </p:cNvPr>
          <p:cNvSpPr/>
          <p:nvPr/>
        </p:nvSpPr>
        <p:spPr>
          <a:xfrm>
            <a:off x="320040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47882933-511D-B9B3-035B-713DC5F7743D}"/>
              </a:ext>
            </a:extLst>
          </p:cNvPr>
          <p:cNvSpPr/>
          <p:nvPr/>
        </p:nvSpPr>
        <p:spPr>
          <a:xfrm>
            <a:off x="3200400" y="2446020"/>
            <a:ext cx="82296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6D4DFB3-3948-12CF-C362-9733ABB11AE2}"/>
              </a:ext>
            </a:extLst>
          </p:cNvPr>
          <p:cNvSpPr/>
          <p:nvPr/>
        </p:nvSpPr>
        <p:spPr>
          <a:xfrm>
            <a:off x="340156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CC9FA61-DC2C-D2AA-806E-62D55BC6B72D}"/>
              </a:ext>
            </a:extLst>
          </p:cNvPr>
          <p:cNvSpPr/>
          <p:nvPr/>
        </p:nvSpPr>
        <p:spPr>
          <a:xfrm>
            <a:off x="420624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B3B8952-8205-600E-93B6-AD2E7F985A4F}"/>
              </a:ext>
            </a:extLst>
          </p:cNvPr>
          <p:cNvSpPr/>
          <p:nvPr/>
        </p:nvSpPr>
        <p:spPr>
          <a:xfrm>
            <a:off x="420624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5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530CD97-EA21-0785-646B-F87C6417BADA}"/>
              </a:ext>
            </a:extLst>
          </p:cNvPr>
          <p:cNvSpPr/>
          <p:nvPr/>
        </p:nvSpPr>
        <p:spPr>
          <a:xfrm>
            <a:off x="340156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A4441998-4727-1FAE-78CF-7402D2397DF6}"/>
              </a:ext>
            </a:extLst>
          </p:cNvPr>
          <p:cNvSpPr/>
          <p:nvPr/>
        </p:nvSpPr>
        <p:spPr>
          <a:xfrm>
            <a:off x="340156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SBERT maps paragraphs and anchors into a shared vector space.</a:t>
            </a:r>
            <a:endParaRPr lang="en-US" sz="105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6357F95-05A2-D305-AA4B-73F8F480ACEF}"/>
              </a:ext>
            </a:extLst>
          </p:cNvPr>
          <p:cNvSpPr/>
          <p:nvPr/>
        </p:nvSpPr>
        <p:spPr>
          <a:xfrm>
            <a:off x="530352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E7C1DB30-E540-FDB0-646A-A246858B7FE6}"/>
              </a:ext>
            </a:extLst>
          </p:cNvPr>
          <p:cNvSpPr/>
          <p:nvPr/>
        </p:nvSpPr>
        <p:spPr>
          <a:xfrm>
            <a:off x="5303520" y="2446020"/>
            <a:ext cx="82296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827A5497-A422-3463-E79D-D1B0113020A0}"/>
              </a:ext>
            </a:extLst>
          </p:cNvPr>
          <p:cNvSpPr/>
          <p:nvPr/>
        </p:nvSpPr>
        <p:spPr>
          <a:xfrm>
            <a:off x="550468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9F034F8-1B85-C150-A22D-A7E38B11FCF0}"/>
              </a:ext>
            </a:extLst>
          </p:cNvPr>
          <p:cNvSpPr/>
          <p:nvPr/>
        </p:nvSpPr>
        <p:spPr>
          <a:xfrm>
            <a:off x="630936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6EACD82-9599-F33D-2634-32A85D42B38A}"/>
              </a:ext>
            </a:extLst>
          </p:cNvPr>
          <p:cNvSpPr/>
          <p:nvPr/>
        </p:nvSpPr>
        <p:spPr>
          <a:xfrm>
            <a:off x="630936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5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65A1EFC-B59D-EE5C-4954-91B09E47FEB5}"/>
              </a:ext>
            </a:extLst>
          </p:cNvPr>
          <p:cNvSpPr/>
          <p:nvPr/>
        </p:nvSpPr>
        <p:spPr>
          <a:xfrm>
            <a:off x="550468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retrieval</a:t>
            </a:r>
            <a:endParaRPr lang="en-US" sz="14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5945F3B-5D08-D2AD-3120-51F8387900FF}"/>
              </a:ext>
            </a:extLst>
          </p:cNvPr>
          <p:cNvSpPr/>
          <p:nvPr/>
        </p:nvSpPr>
        <p:spPr>
          <a:xfrm>
            <a:off x="550468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selects top-K paragraphs per anchor; multi-membership allowed.</a:t>
            </a:r>
            <a:endParaRPr lang="en-US" sz="105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5AC36BC0-DA79-4742-B048-527B8FD0BB80}"/>
              </a:ext>
            </a:extLst>
          </p:cNvPr>
          <p:cNvSpPr/>
          <p:nvPr/>
        </p:nvSpPr>
        <p:spPr>
          <a:xfrm>
            <a:off x="740664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D6F6174B-E298-ACF5-CF6B-996DAF0DD469}"/>
              </a:ext>
            </a:extLst>
          </p:cNvPr>
          <p:cNvSpPr/>
          <p:nvPr/>
        </p:nvSpPr>
        <p:spPr>
          <a:xfrm>
            <a:off x="7406640" y="2446020"/>
            <a:ext cx="82296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76209783-E0FF-8C89-984A-40F7904B3318}"/>
              </a:ext>
            </a:extLst>
          </p:cNvPr>
          <p:cNvSpPr/>
          <p:nvPr/>
        </p:nvSpPr>
        <p:spPr>
          <a:xfrm>
            <a:off x="760780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89839B7F-086F-8AED-4351-FE8827630C63}"/>
              </a:ext>
            </a:extLst>
          </p:cNvPr>
          <p:cNvSpPr/>
          <p:nvPr/>
        </p:nvSpPr>
        <p:spPr>
          <a:xfrm>
            <a:off x="841248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ED0C2C65-A318-C3CD-8D4F-C96C132ABEE4}"/>
              </a:ext>
            </a:extLst>
          </p:cNvPr>
          <p:cNvSpPr/>
          <p:nvPr/>
        </p:nvSpPr>
        <p:spPr>
          <a:xfrm>
            <a:off x="841248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6EBEA0F0-3D76-E87C-3A8C-46CC70F78B0D}"/>
              </a:ext>
            </a:extLst>
          </p:cNvPr>
          <p:cNvSpPr/>
          <p:nvPr/>
        </p:nvSpPr>
        <p:spPr>
          <a:xfrm>
            <a:off x="760780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1400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0432B88A-63AD-5C91-A7C2-9538C012CF3F}"/>
              </a:ext>
            </a:extLst>
          </p:cNvPr>
          <p:cNvSpPr/>
          <p:nvPr/>
        </p:nvSpPr>
        <p:spPr>
          <a:xfrm>
            <a:off x="760780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prompts produce short, neutral, single-claim candidate statements.</a:t>
            </a:r>
            <a:endParaRPr lang="en-US" sz="1050" dirty="0"/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5529C327-5681-4BEC-CABD-6A11EE5497FF}"/>
              </a:ext>
            </a:extLst>
          </p:cNvPr>
          <p:cNvSpPr/>
          <p:nvPr/>
        </p:nvSpPr>
        <p:spPr>
          <a:xfrm>
            <a:off x="950976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20FAD8CE-93FE-45AC-13C8-C6879E3BC448}"/>
              </a:ext>
            </a:extLst>
          </p:cNvPr>
          <p:cNvSpPr/>
          <p:nvPr/>
        </p:nvSpPr>
        <p:spPr>
          <a:xfrm>
            <a:off x="9509760" y="2446020"/>
            <a:ext cx="82296" cy="1691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0C1E9F9D-200F-F96C-40DA-EA3D3FE69B28}"/>
              </a:ext>
            </a:extLst>
          </p:cNvPr>
          <p:cNvSpPr/>
          <p:nvPr/>
        </p:nvSpPr>
        <p:spPr>
          <a:xfrm>
            <a:off x="971092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2A22AAE2-93D7-A1EB-9A60-6B9EA5465AB0}"/>
              </a:ext>
            </a:extLst>
          </p:cNvPr>
          <p:cNvSpPr/>
          <p:nvPr/>
        </p:nvSpPr>
        <p:spPr>
          <a:xfrm>
            <a:off x="1051560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942B9D2B-02A4-135B-614E-02B2242488C7}"/>
              </a:ext>
            </a:extLst>
          </p:cNvPr>
          <p:cNvSpPr/>
          <p:nvPr/>
        </p:nvSpPr>
        <p:spPr>
          <a:xfrm>
            <a:off x="1051560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750" dirty="0"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C84DFE20-D3EA-CD29-7DFE-31D95A015866}"/>
              </a:ext>
            </a:extLst>
          </p:cNvPr>
          <p:cNvSpPr/>
          <p:nvPr/>
        </p:nvSpPr>
        <p:spPr>
          <a:xfrm>
            <a:off x="971092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curation</a:t>
            </a:r>
            <a:endParaRPr lang="en-US" sz="1400" dirty="0"/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D5E7AB48-D77A-02CA-EAA6-6A27485B19D1}"/>
              </a:ext>
            </a:extLst>
          </p:cNvPr>
          <p:cNvSpPr/>
          <p:nvPr/>
        </p:nvSpPr>
        <p:spPr>
          <a:xfrm>
            <a:off x="971092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 reviews for clarity, balance, redundancy; produces final Q-sample.</a:t>
            </a:r>
            <a:endParaRPr lang="en-US" sz="105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8C4BE100-5F36-35A6-F187-23E487DEC9D5}"/>
              </a:ext>
            </a:extLst>
          </p:cNvPr>
          <p:cNvSpPr/>
          <p:nvPr/>
        </p:nvSpPr>
        <p:spPr>
          <a:xfrm>
            <a:off x="2514600" y="242316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92C680FE-0FD7-3754-FC2E-F6F5DEDDE080}"/>
              </a:ext>
            </a:extLst>
          </p:cNvPr>
          <p:cNvSpPr/>
          <p:nvPr/>
        </p:nvSpPr>
        <p:spPr>
          <a:xfrm>
            <a:off x="2514600" y="416052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7E2746BA-AE81-5150-96C4-53331597878A}"/>
              </a:ext>
            </a:extLst>
          </p:cNvPr>
          <p:cNvSpPr/>
          <p:nvPr/>
        </p:nvSpPr>
        <p:spPr>
          <a:xfrm>
            <a:off x="2697480" y="2423160"/>
            <a:ext cx="0" cy="17373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4F1F7DB1-B699-629F-32EE-9830540DB0C7}"/>
              </a:ext>
            </a:extLst>
          </p:cNvPr>
          <p:cNvSpPr/>
          <p:nvPr/>
        </p:nvSpPr>
        <p:spPr>
          <a:xfrm>
            <a:off x="2697480" y="3291840"/>
            <a:ext cx="5029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4A857C2F-793C-7FD3-4398-FCA29FC6C08D}"/>
              </a:ext>
            </a:extLst>
          </p:cNvPr>
          <p:cNvSpPr/>
          <p:nvPr/>
        </p:nvSpPr>
        <p:spPr>
          <a:xfrm>
            <a:off x="5074920" y="3291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5" name="Shape 49">
            <a:extLst>
              <a:ext uri="{FF2B5EF4-FFF2-40B4-BE49-F238E27FC236}">
                <a16:creationId xmlns:a16="http://schemas.microsoft.com/office/drawing/2014/main" id="{230D8068-758D-C914-BB6B-2A2D61836F53}"/>
              </a:ext>
            </a:extLst>
          </p:cNvPr>
          <p:cNvSpPr/>
          <p:nvPr/>
        </p:nvSpPr>
        <p:spPr>
          <a:xfrm>
            <a:off x="7178040" y="3291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6" name="Shape 50">
            <a:extLst>
              <a:ext uri="{FF2B5EF4-FFF2-40B4-BE49-F238E27FC236}">
                <a16:creationId xmlns:a16="http://schemas.microsoft.com/office/drawing/2014/main" id="{A1BE64BC-1895-561A-C3CE-EEAA11903282}"/>
              </a:ext>
            </a:extLst>
          </p:cNvPr>
          <p:cNvSpPr/>
          <p:nvPr/>
        </p:nvSpPr>
        <p:spPr>
          <a:xfrm>
            <a:off x="9281160" y="3291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7" name="Shape 51">
            <a:extLst>
              <a:ext uri="{FF2B5EF4-FFF2-40B4-BE49-F238E27FC236}">
                <a16:creationId xmlns:a16="http://schemas.microsoft.com/office/drawing/2014/main" id="{A578AF91-A22F-5A2C-E4D1-5FED3FBD88A8}"/>
              </a:ext>
            </a:extLst>
          </p:cNvPr>
          <p:cNvSpPr/>
          <p:nvPr/>
        </p:nvSpPr>
        <p:spPr>
          <a:xfrm>
            <a:off x="640080" y="5170932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B7EC630A-1FA1-EC7B-AE7B-1D524AEDF641}"/>
              </a:ext>
            </a:extLst>
          </p:cNvPr>
          <p:cNvSpPr/>
          <p:nvPr/>
        </p:nvSpPr>
        <p:spPr>
          <a:xfrm>
            <a:off x="640080" y="51709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 </a:t>
            </a: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autonomy gap</a:t>
            </a:r>
            <a:endParaRPr lang="en-US" sz="1100" dirty="0"/>
          </a:p>
        </p:txBody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CE5BB5FC-3408-875A-BAD0-9222824D5379}"/>
              </a:ext>
            </a:extLst>
          </p:cNvPr>
          <p:cNvSpPr/>
          <p:nvPr/>
        </p:nvSpPr>
        <p:spPr>
          <a:xfrm>
            <a:off x="457200" y="614933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deterministic     </a:t>
            </a:r>
            <a:r>
              <a:rPr lang="en-US" sz="1200" b="1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LLM-based     </a:t>
            </a:r>
            <a:r>
              <a:rPr lang="en-US" sz="1200" b="1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human-in-the-loop     </a:t>
            </a:r>
            <a:r>
              <a:rPr lang="en-US" sz="1200" b="1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gap </a:t>
            </a:r>
            <a:endParaRPr lang="en-US" sz="1200" dirty="0"/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9E8FEDF8-036B-D2EC-62B3-B9D68A83511B}"/>
              </a:ext>
            </a:extLst>
          </p:cNvPr>
          <p:cNvSpPr/>
          <p:nvPr/>
        </p:nvSpPr>
        <p:spPr>
          <a:xfrm>
            <a:off x="5303520" y="564642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61" name="Text 52">
            <a:extLst>
              <a:ext uri="{FF2B5EF4-FFF2-40B4-BE49-F238E27FC236}">
                <a16:creationId xmlns:a16="http://schemas.microsoft.com/office/drawing/2014/main" id="{8426D848-BF07-9587-D917-7C948E31C47E}"/>
              </a:ext>
            </a:extLst>
          </p:cNvPr>
          <p:cNvSpPr/>
          <p:nvPr/>
        </p:nvSpPr>
        <p:spPr>
          <a:xfrm>
            <a:off x="5303520" y="565099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 </a:t>
            </a: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assembly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archives as proxy for public discourse.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Swissdox@LiRI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17 keywords, 3 languages (DE/FR/IT), 2018–2024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segmentation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balances semantic completeness and embedding granularity.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retained: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outlet · date · language · URL · political leaning (5-point, from Udris 2023)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leaning enables stratified retrieval later — biases become visible and tunable.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846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6766560" y="173736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444,869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040880" y="2542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articles retrieved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3200400"/>
            <a:ext cx="4846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6766560" y="320040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7040880" y="3337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738,598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040880" y="40050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 after segmentation &amp; filter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4663440"/>
            <a:ext cx="4846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6766560" y="466344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7040880" y="4800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040880" y="5468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German, French, Italian — all processed together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generation — and gap G1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= theory-guided reference points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paragraphs (3–5 sentences) describing each subtopic the concourse should cover.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implementation: 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anchors from subcategory labels + an expert policy report.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healthcare case: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subcategories + 1 overarching, × 3 languages = 24 anchor texts.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645920"/>
            <a:ext cx="4114800" cy="429768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7772400" y="182880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7772400" y="18288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496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Autonomy Gap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still needs an externally authored policy analysis to ground the anchors.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384048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drop-in for arbitrary Q studies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expert labor isn't removed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the generalizability claim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and anchor-based retrieval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9144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paraphrase-multilingual-MiniLM-L12-v2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shared space · all 3 languages together · SBERT, strong price-performance.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91440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to anchors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Multi-membership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paragraph can score high on several anchors (realistic).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political leaning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bucket gets its own quota.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top-K trade-off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0" y="214884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ECACA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672084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50,000 per anchor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80% overlap between anchors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3154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generates near-identical statements across categories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02336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F7D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67208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500 per anchor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14.5% overlap between anchors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 anchor-specific synthesis; tunable per study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specialized GPT-4o assistants, one per output type.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Assistant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set: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~650 example statements from prior DRI surveys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consideration statements (JSON) per anchor × ideology bucket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4864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Assistant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set: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prior policy options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policy options (JSON) per anchor × ideology bucket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247120" cy="82296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enforces: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single claim  ·  neutral tone  ·  concise  ·  declarative  ·  JSON output     </a:t>
            </a:r>
            <a:r>
              <a:rPr lang="en-US" sz="1300" b="1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 Healthcare pilot: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200 considerations + 25 policy options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Bevölkerungsrat 2025 — Swiss healthcare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participants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sortition from an initial pool of 22,000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– Mar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Zentrum für Demokratie Aarau · UZH · UniGe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deployed: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consideration items · 8 policy options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covered: 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reform · utilization · hospital planning · insurance · prevention · coordination · household burden + overarching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645920"/>
            <a:ext cx="5120640" cy="429768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67665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76656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pre-deliberation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22631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50976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50976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post-deliberation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402336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676656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 (and doesn't)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4480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deployed successfully, scores are interpretable, participants completed it. The score itself does not validate the pipeline.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policy comparison — and gap G2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pipeline on a second topic where a human-authored DRI survey exists (Mathys 2024, Swiss food policy).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matching of each human item to the 5 nearest pipeline items; rated by the author on a 4-level scale.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91440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41 matched (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options: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matched (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highly general items:  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 / 100%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600200"/>
            <a:ext cx="4846320" cy="425196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6949440" y="178308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266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4944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 study. One rater. No blinding. No agreement statistics.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for a real validation: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37490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topics with human baselines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blinded raters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stability tests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pilot Q-sorts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G1 AND G2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limitations worth naming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91440" cy="10972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Media-coverage dependency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inherits whatever is in the corpus. Fringe and minority views underrepresented in mainstream news are invisible to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91440" cy="10972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opacity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is closed-weights — we can't audit which of the 500 retrieved paragraphs actually influenced any given statement.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91440" cy="10972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Stylistic blind spots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206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defaults to neutral/positive framings. Pessimistic or highly general first-person statements need explicit prompting.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91440" cy="10972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beyond DRI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5440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 is a narrow Q variant. Broader Q applications use less-structured statement types — the pipeline should transfer, but we haven't shown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working on — and what we need your help with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anchor-autonomy gap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unsupervised subtopic extraction</a:t>
            </a:r>
            <a:endParaRPr lang="en-US" sz="13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open coding of the corpus</a:t>
            </a:r>
            <a:endParaRPr lang="en-US" sz="13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stakeholder-document bootstrapping (party platforms, NGO briefs)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bet on?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6492240" y="1965960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validation gap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design: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≥ 5 issues with human-authored Q-samples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versions on the same participants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factor structures, not just statement surface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add?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109728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your questions &amp; feedback (: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0058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Maurice Flechtner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Zurich · ETH Zurich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maurice.flechtner@zda.uzh.ch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4297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Code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github.com/mooorice/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automated-DRI-statement-generation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SUPERVISED?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didn’t work: unsupervised clustering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+ BERTopic on the paragraph embeddings.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argumentative themes.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Got: named-entity clusters.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were dominated by: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company names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office acronyms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politicians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645920"/>
            <a:ext cx="4846320" cy="429768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94944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evidence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2286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0.185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94944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anchor-score spread within the top 20 clusters (and absolute similarities all ≤ 0.6)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4297680"/>
            <a:ext cx="4480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694944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5E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4800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found real structure — just not the structure we wanted. Anchors give control.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AutoConcourse  ·  CompText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1545</Words>
  <Application>Microsoft Office PowerPoint</Application>
  <PresentationFormat>Widescreen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AutoConcourse</dc:title>
  <dc:subject>PptxGenJS Presentation</dc:subject>
  <dc:creator>Kevin Maurice Flechtner</dc:creator>
  <cp:lastModifiedBy>Maurice Flechtner</cp:lastModifiedBy>
  <cp:revision>3</cp:revision>
  <dcterms:created xsi:type="dcterms:W3CDTF">2026-04-21T10:29:52Z</dcterms:created>
  <dcterms:modified xsi:type="dcterms:W3CDTF">2026-04-26T13:20:47Z</dcterms:modified>
</cp:coreProperties>
</file>